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1"/>
  </p:notesMasterIdLst>
  <p:handoutMasterIdLst>
    <p:handoutMasterId r:id="rId22"/>
  </p:handoutMasterIdLst>
  <p:sldIdLst>
    <p:sldId id="256" r:id="rId5"/>
    <p:sldId id="257" r:id="rId6"/>
    <p:sldId id="269" r:id="rId7"/>
    <p:sldId id="270" r:id="rId8"/>
    <p:sldId id="271" r:id="rId9"/>
    <p:sldId id="272" r:id="rId10"/>
    <p:sldId id="273" r:id="rId11"/>
    <p:sldId id="278" r:id="rId12"/>
    <p:sldId id="277" r:id="rId13"/>
    <p:sldId id="279" r:id="rId14"/>
    <p:sldId id="281" r:id="rId15"/>
    <p:sldId id="282" r:id="rId16"/>
    <p:sldId id="274" r:id="rId17"/>
    <p:sldId id="275" r:id="rId18"/>
    <p:sldId id="276" r:id="rId19"/>
    <p:sldId id="268" r:id="rId20"/>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1282" y="3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5/13/2026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5/13/2026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400"/>
              </a:spcBef>
            </a:pPr>
            <a:r>
              <a:rPr lang="en-IN" b="1" dirty="0">
                <a:latin typeface="Times New Roman" panose="02020603050405020304" pitchFamily="18" charset="0"/>
                <a:cs typeface="Times New Roman" panose="02020603050405020304" pitchFamily="18" charset="0"/>
              </a:rPr>
              <a:t>EARLY DIAGNOSIS OF ALZHEIMER’S DISEASE USING MACHINE LEARNING</a:t>
            </a:r>
            <a:endParaRPr lang="en-IN" dirty="0">
              <a:latin typeface="Times New Roman" panose="02020603050405020304" pitchFamily="18" charset="0"/>
              <a:cs typeface="Times New Roman" panose="02020603050405020304" pitchFamily="18" charset="0"/>
            </a:endParaRPr>
          </a:p>
          <a:p>
            <a:pPr algn="ctr">
              <a:lnSpc>
                <a:spcPct val="100000"/>
              </a:lnSpc>
              <a:spcBef>
                <a:spcPts val="400"/>
              </a:spcBef>
            </a:pP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Karanpreet </a:t>
            </a:r>
            <a:r>
              <a:rPr lang="en-US" sz="2000" spc="-1" dirty="0">
                <a:solidFill>
                  <a:srgbClr val="000000"/>
                </a:solidFill>
                <a:latin typeface="Times New Roman" panose="02020603050405020304" pitchFamily="18" charset="0"/>
                <a:ea typeface="MS PGothic"/>
                <a:cs typeface="Times New Roman" panose="02020603050405020304" pitchFamily="18" charset="0"/>
              </a:rPr>
              <a:t>Singh (2210990482)</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Karishma Dhawan (2210990483)</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Kanishk Kharbanda (2210990472)</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Jasmine Rathor (2210990450)</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Gifty Gupta</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641"/>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marL="457200" lvl="0"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Alzheimer’s disease affects memory and thinking ability.</a:t>
            </a:r>
          </a:p>
          <a:p>
            <a:pPr marL="457200" lvl="0"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Early diagnosis helps slow disease progression.</a:t>
            </a:r>
          </a:p>
          <a:p>
            <a:pPr marL="457200" lvl="0"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Traditional diagnosis methods are expensive and time-consuming.</a:t>
            </a:r>
          </a:p>
          <a:p>
            <a:pPr marL="457200" lvl="0"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Machine learning can improve early detection accuracy.</a:t>
            </a:r>
          </a:p>
          <a:p>
            <a:pPr marL="457200" lvl="0"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Proposed system provides real-time prediction.</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49095-2233-238A-87CC-C61D3C36DDE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4" name="Rectangle 1">
            <a:extLst>
              <a:ext uri="{FF2B5EF4-FFF2-40B4-BE49-F238E27FC236}">
                <a16:creationId xmlns:a16="http://schemas.microsoft.com/office/drawing/2014/main" id="{B661BA10-F086-EB4D-1762-C40388A8CF50}"/>
              </a:ext>
            </a:extLst>
          </p:cNvPr>
          <p:cNvSpPr>
            <a:spLocks noGrp="1" noChangeArrowheads="1"/>
          </p:cNvSpPr>
          <p:nvPr>
            <p:ph type="subTitle"/>
          </p:nvPr>
        </p:nvSpPr>
        <p:spPr bwMode="auto">
          <a:xfrm>
            <a:off x="409073" y="1671964"/>
            <a:ext cx="538064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Delayed diagnosis in traditional systems.</a:t>
            </a:r>
          </a:p>
          <a:p>
            <a:pPr marL="28575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cost of MRI and PET scans.</a:t>
            </a:r>
          </a:p>
          <a:p>
            <a:pPr marL="28575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real-time prediction systems.</a:t>
            </a:r>
          </a:p>
          <a:p>
            <a:pPr marL="28575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user-friendly healthcare interfaces.</a:t>
            </a:r>
          </a:p>
          <a:p>
            <a:pPr marL="28575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affordable and accurate diagnostic support. </a:t>
            </a:r>
          </a:p>
        </p:txBody>
      </p:sp>
    </p:spTree>
    <p:extLst>
      <p:ext uri="{BB962C8B-B14F-4D97-AF65-F5344CB8AC3E}">
        <p14:creationId xmlns:p14="http://schemas.microsoft.com/office/powerpoint/2010/main" val="768923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9231A-0D54-BA1D-CF67-F770446B028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p>
        </p:txBody>
      </p:sp>
      <p:sp>
        <p:nvSpPr>
          <p:cNvPr id="4" name="Rectangle 1">
            <a:extLst>
              <a:ext uri="{FF2B5EF4-FFF2-40B4-BE49-F238E27FC236}">
                <a16:creationId xmlns:a16="http://schemas.microsoft.com/office/drawing/2014/main" id="{64E96EDD-C191-3902-8F84-504EF74E9F81}"/>
              </a:ext>
            </a:extLst>
          </p:cNvPr>
          <p:cNvSpPr>
            <a:spLocks noGrp="1" noChangeArrowheads="1"/>
          </p:cNvSpPr>
          <p:nvPr>
            <p:ph type="subTitle"/>
          </p:nvPr>
        </p:nvSpPr>
        <p:spPr bwMode="auto">
          <a:xfrm>
            <a:off x="0" y="1650284"/>
            <a:ext cx="521488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machine learning-based prediction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real-time Alzheimer diagnosis.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an easy-to-use web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prediction accuracy using ML algorithms.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Assist healthcare professionals in decision-making. </a:t>
            </a:r>
          </a:p>
        </p:txBody>
      </p:sp>
    </p:spTree>
    <p:extLst>
      <p:ext uri="{BB962C8B-B14F-4D97-AF65-F5344CB8AC3E}">
        <p14:creationId xmlns:p14="http://schemas.microsoft.com/office/powerpoint/2010/main" val="3179914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DB74C-8792-48B6-FF92-EFA7E043DBB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System Architecture</a:t>
            </a:r>
          </a:p>
        </p:txBody>
      </p:sp>
      <p:sp>
        <p:nvSpPr>
          <p:cNvPr id="3" name="Subtitle 2">
            <a:extLst>
              <a:ext uri="{FF2B5EF4-FFF2-40B4-BE49-F238E27FC236}">
                <a16:creationId xmlns:a16="http://schemas.microsoft.com/office/drawing/2014/main" id="{F8E663F8-59E3-A15D-2E77-B1691C097EBB}"/>
              </a:ext>
            </a:extLst>
          </p:cNvPr>
          <p:cNvSpPr>
            <a:spLocks noGrp="1"/>
          </p:cNvSpPr>
          <p:nvPr>
            <p:ph type="subTitle"/>
          </p:nvPr>
        </p:nvSpPr>
        <p:spPr>
          <a:xfrm>
            <a:off x="171880" y="2971980"/>
            <a:ext cx="5486040" cy="914040"/>
          </a:xfrm>
        </p:spPr>
        <p:txBody>
          <a:bodyPr/>
          <a:lstStyle/>
          <a:p>
            <a:r>
              <a:rPr lang="en-IN" sz="2000" b="1" dirty="0">
                <a:latin typeface="Times New Roman" panose="02020603050405020304" pitchFamily="18" charset="0"/>
                <a:cs typeface="Times New Roman" panose="02020603050405020304" pitchFamily="18" charset="0"/>
              </a:rPr>
              <a:t>Frontend</a:t>
            </a:r>
          </a:p>
          <a:p>
            <a:pPr marL="0" indent="0">
              <a:buNone/>
            </a:pPr>
            <a:r>
              <a:rPr lang="en-IN" sz="2000" dirty="0">
                <a:latin typeface="Times New Roman" panose="02020603050405020304" pitchFamily="18" charset="0"/>
                <a:cs typeface="Times New Roman" panose="02020603050405020304" pitchFamily="18" charset="0"/>
              </a:rPr>
              <a:t>	React.js</a:t>
            </a:r>
          </a:p>
          <a:p>
            <a:r>
              <a:rPr lang="en-IN" sz="2000" b="1" dirty="0">
                <a:latin typeface="Times New Roman" panose="02020603050405020304" pitchFamily="18" charset="0"/>
                <a:cs typeface="Times New Roman" panose="02020603050405020304" pitchFamily="18" charset="0"/>
              </a:rPr>
              <a:t>Backend</a:t>
            </a:r>
          </a:p>
          <a:p>
            <a:pPr marL="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FastAPI</a:t>
            </a: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Machine Learning</a:t>
            </a:r>
          </a:p>
          <a:p>
            <a:pPr marL="0" indent="0">
              <a:buNone/>
            </a:pPr>
            <a:r>
              <a:rPr lang="en-IN" sz="2000" dirty="0">
                <a:latin typeface="Times New Roman" panose="02020603050405020304" pitchFamily="18" charset="0"/>
                <a:cs typeface="Times New Roman" panose="02020603050405020304" pitchFamily="18" charset="0"/>
              </a:rPr>
              <a:t>	Random Forest</a:t>
            </a:r>
          </a:p>
          <a:p>
            <a:pPr marL="0" indent="0">
              <a:buNone/>
            </a:pPr>
            <a:r>
              <a:rPr lang="en-IN" sz="2000" dirty="0">
                <a:latin typeface="Times New Roman" panose="02020603050405020304" pitchFamily="18" charset="0"/>
                <a:cs typeface="Times New Roman" panose="02020603050405020304" pitchFamily="18" charset="0"/>
              </a:rPr>
              <a:t>	SVM</a:t>
            </a:r>
          </a:p>
          <a:p>
            <a:pPr marL="0" indent="0">
              <a:buNone/>
            </a:pPr>
            <a:r>
              <a:rPr lang="en-IN" sz="2000" dirty="0">
                <a:latin typeface="Times New Roman" panose="02020603050405020304" pitchFamily="18" charset="0"/>
                <a:cs typeface="Times New Roman" panose="02020603050405020304" pitchFamily="18" charset="0"/>
              </a:rPr>
              <a:t>	CNN</a:t>
            </a:r>
          </a:p>
          <a:p>
            <a:r>
              <a:rPr lang="en-IN" sz="2000" b="1" dirty="0">
                <a:latin typeface="Times New Roman" panose="02020603050405020304" pitchFamily="18" charset="0"/>
                <a:cs typeface="Times New Roman" panose="02020603050405020304" pitchFamily="18" charset="0"/>
              </a:rPr>
              <a:t>Dataset</a:t>
            </a:r>
          </a:p>
          <a:p>
            <a:pPr marL="0" indent="0">
              <a:buNone/>
            </a:pPr>
            <a:r>
              <a:rPr lang="en-IN" sz="2000" dirty="0">
                <a:latin typeface="Times New Roman" panose="02020603050405020304" pitchFamily="18" charset="0"/>
                <a:cs typeface="Times New Roman" panose="02020603050405020304" pitchFamily="18" charset="0"/>
              </a:rPr>
              <a:t>	ADNI</a:t>
            </a:r>
          </a:p>
          <a:p>
            <a:pPr marL="0" indent="0">
              <a:buNone/>
            </a:pPr>
            <a:r>
              <a:rPr lang="en-IN" sz="2000" dirty="0">
                <a:latin typeface="Times New Roman" panose="02020603050405020304" pitchFamily="18" charset="0"/>
                <a:cs typeface="Times New Roman" panose="02020603050405020304" pitchFamily="18" charset="0"/>
              </a:rPr>
              <a:t>	OASIS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8331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D2905-085E-B0D9-25F5-7775F80CB41D}"/>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Dataset and Preprocessing</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5EAA554-633F-B59D-644B-2061CEF17913}"/>
              </a:ext>
            </a:extLst>
          </p:cNvPr>
          <p:cNvSpPr>
            <a:spLocks noGrp="1"/>
          </p:cNvSpPr>
          <p:nvPr>
            <p:ph type="subTitle"/>
          </p:nvPr>
        </p:nvSpPr>
        <p:spPr>
          <a:xfrm>
            <a:off x="350635" y="2316938"/>
            <a:ext cx="5486040" cy="2289078"/>
          </a:xfrm>
        </p:spPr>
        <p:txBody>
          <a:bodyPr/>
          <a:lstStyle/>
          <a:p>
            <a:pPr marL="457200" indent="-4572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Datasets Used</a:t>
            </a:r>
          </a:p>
          <a:p>
            <a:endParaRPr lang="en-IN"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ADNI Dataset</a:t>
            </a:r>
          </a:p>
          <a:p>
            <a:pPr marL="34290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OASIS Dataset</a:t>
            </a:r>
          </a:p>
          <a:p>
            <a:pPr marL="0" indent="0">
              <a:buNone/>
            </a:pPr>
            <a:endParaRPr lang="en-IN" sz="2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Preprocessing Steps</a:t>
            </a:r>
          </a:p>
          <a:p>
            <a:endParaRPr lang="en-IN"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Missing value handling</a:t>
            </a:r>
          </a:p>
          <a:p>
            <a:pPr marL="34290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Data cleaning</a:t>
            </a:r>
          </a:p>
          <a:p>
            <a:pPr marL="34290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Feature scaling</a:t>
            </a:r>
          </a:p>
          <a:p>
            <a:pPr marL="34290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Normalization</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2491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E23B5-2C3E-54C1-3FBD-0FAFE6BEBC9A}"/>
              </a:ext>
            </a:extLst>
          </p:cNvPr>
          <p:cNvSpPr>
            <a:spLocks noGrp="1"/>
          </p:cNvSpPr>
          <p:nvPr>
            <p:ph type="title"/>
          </p:nvPr>
        </p:nvSpPr>
        <p:spPr/>
        <p:txBody>
          <a:bodyPr/>
          <a:lstStyle/>
          <a:p>
            <a:r>
              <a:rPr lang="en-IN" dirty="0"/>
              <a:t>Results and Analysis</a:t>
            </a:r>
          </a:p>
        </p:txBody>
      </p:sp>
      <p:sp>
        <p:nvSpPr>
          <p:cNvPr id="4" name="Rectangle 1">
            <a:extLst>
              <a:ext uri="{FF2B5EF4-FFF2-40B4-BE49-F238E27FC236}">
                <a16:creationId xmlns:a16="http://schemas.microsoft.com/office/drawing/2014/main" id="{56BE9A59-4DB1-2160-1E30-9E97C4BE3C2F}"/>
              </a:ext>
            </a:extLst>
          </p:cNvPr>
          <p:cNvSpPr>
            <a:spLocks noGrp="1" noChangeArrowheads="1"/>
          </p:cNvSpPr>
          <p:nvPr>
            <p:ph type="subTitle"/>
          </p:nvPr>
        </p:nvSpPr>
        <p:spPr bwMode="auto">
          <a:xfrm>
            <a:off x="178755" y="1146404"/>
            <a:ext cx="367600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Real-time prediction achieved.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Fast response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 prediction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User-friendly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Reliable confidence score output.</a:t>
            </a:r>
          </a:p>
          <a:p>
            <a:pPr marL="0" marR="0" lvl="0" indent="0" algn="l" defTabSz="914400" rtl="0" eaLnBrk="0" fontAlgn="base" latinLnBrk="0" hangingPunct="0">
              <a:lnSpc>
                <a:spcPct val="100000"/>
              </a:lnSpc>
              <a:spcBef>
                <a:spcPct val="0"/>
              </a:spcBef>
              <a:spcAft>
                <a:spcPct val="0"/>
              </a:spcAft>
              <a:buClrTx/>
              <a:buSzTx/>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901142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E86F7-E852-9552-2C1A-BCE3930BB7B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Snapshots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509155D-5D27-10B7-73C2-751A78B21E49}"/>
              </a:ext>
            </a:extLst>
          </p:cNvPr>
          <p:cNvSpPr>
            <a:spLocks noGrp="1"/>
          </p:cNvSpPr>
          <p:nvPr>
            <p:ph type="subTitle"/>
          </p:nvPr>
        </p:nvSpPr>
        <p:spPr>
          <a:xfrm>
            <a:off x="0" y="457020"/>
            <a:ext cx="8229240" cy="2713810"/>
          </a:xfrm>
        </p:spPr>
        <p:txBody>
          <a:bodyPr/>
          <a:lstStyle/>
          <a:p>
            <a:r>
              <a:rPr lang="en-US" sz="1600" b="1" dirty="0">
                <a:latin typeface="Times New Roman" panose="02020603050405020304" pitchFamily="18" charset="0"/>
                <a:cs typeface="Times New Roman" panose="02020603050405020304" pitchFamily="18" charset="0"/>
              </a:rPr>
              <a:t>Login Module : </a:t>
            </a:r>
            <a:r>
              <a:rPr lang="en-US" sz="1600" dirty="0">
                <a:latin typeface="Times New Roman" panose="02020603050405020304" pitchFamily="18" charset="0"/>
                <a:cs typeface="Times New Roman" panose="02020603050405020304" pitchFamily="18" charset="0"/>
              </a:rPr>
              <a:t>This module allows registered users to securely access the Alzheimer’s assessment system using their username and password. It ensures authorized access to patient data and prediction features.</a:t>
            </a:r>
          </a:p>
          <a:p>
            <a:endParaRPr lang="en-IN" sz="1800" dirty="0"/>
          </a:p>
        </p:txBody>
      </p:sp>
      <p:pic>
        <p:nvPicPr>
          <p:cNvPr id="5" name="Picture 4">
            <a:extLst>
              <a:ext uri="{FF2B5EF4-FFF2-40B4-BE49-F238E27FC236}">
                <a16:creationId xmlns:a16="http://schemas.microsoft.com/office/drawing/2014/main" id="{A794004A-439E-7484-7E84-AFF8C65828BD}"/>
              </a:ext>
            </a:extLst>
          </p:cNvPr>
          <p:cNvPicPr>
            <a:picLocks noChangeAspect="1"/>
          </p:cNvPicPr>
          <p:nvPr/>
        </p:nvPicPr>
        <p:blipFill>
          <a:blip r:embed="rId2"/>
          <a:stretch>
            <a:fillRect/>
          </a:stretch>
        </p:blipFill>
        <p:spPr>
          <a:xfrm>
            <a:off x="1237354" y="2482656"/>
            <a:ext cx="5754532" cy="3066171"/>
          </a:xfrm>
          <a:prstGeom prst="rect">
            <a:avLst/>
          </a:prstGeom>
        </p:spPr>
      </p:pic>
    </p:spTree>
    <p:extLst>
      <p:ext uri="{BB962C8B-B14F-4D97-AF65-F5344CB8AC3E}">
        <p14:creationId xmlns:p14="http://schemas.microsoft.com/office/powerpoint/2010/main" val="126996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530AE-717C-FF45-4D54-47924C1356A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Snapshots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29829A2-CBA9-2E18-27DB-8719A079413D}"/>
              </a:ext>
            </a:extLst>
          </p:cNvPr>
          <p:cNvSpPr>
            <a:spLocks noGrp="1"/>
          </p:cNvSpPr>
          <p:nvPr>
            <p:ph type="subTitle"/>
          </p:nvPr>
        </p:nvSpPr>
        <p:spPr>
          <a:xfrm>
            <a:off x="244069" y="78229"/>
            <a:ext cx="8229240" cy="3977280"/>
          </a:xfrm>
        </p:spPr>
        <p:txBody>
          <a:bodyPr/>
          <a:lstStyle/>
          <a:p>
            <a:pPr algn="just"/>
            <a:r>
              <a:rPr lang="en-US" sz="1800" b="1" dirty="0">
                <a:latin typeface="Times New Roman" panose="02020603050405020304" pitchFamily="18" charset="0"/>
                <a:cs typeface="Times New Roman" panose="02020603050405020304" pitchFamily="18" charset="0"/>
              </a:rPr>
              <a:t>Registration Module : </a:t>
            </a:r>
            <a:r>
              <a:rPr lang="en-US" sz="1800" dirty="0">
                <a:latin typeface="Times New Roman" panose="02020603050405020304" pitchFamily="18" charset="0"/>
                <a:cs typeface="Times New Roman" panose="02020603050405020304" pitchFamily="18" charset="0"/>
              </a:rPr>
              <a:t>This module enables new users to create an account by entering basic details such as username, email, and password. It helps maintain secure and personalized access to the system.</a:t>
            </a:r>
          </a:p>
          <a:p>
            <a:pPr algn="just"/>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D8BDA19-04DA-E8FE-A448-E6F08218A493}"/>
              </a:ext>
            </a:extLst>
          </p:cNvPr>
          <p:cNvPicPr>
            <a:picLocks noChangeAspect="1"/>
          </p:cNvPicPr>
          <p:nvPr/>
        </p:nvPicPr>
        <p:blipFill>
          <a:blip r:embed="rId2"/>
          <a:stretch>
            <a:fillRect/>
          </a:stretch>
        </p:blipFill>
        <p:spPr>
          <a:xfrm>
            <a:off x="1347537" y="2542839"/>
            <a:ext cx="6607056" cy="3680586"/>
          </a:xfrm>
          <a:prstGeom prst="rect">
            <a:avLst/>
          </a:prstGeom>
        </p:spPr>
      </p:pic>
    </p:spTree>
    <p:extLst>
      <p:ext uri="{BB962C8B-B14F-4D97-AF65-F5344CB8AC3E}">
        <p14:creationId xmlns:p14="http://schemas.microsoft.com/office/powerpoint/2010/main" val="1422649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21134-A3B9-EF11-37C8-791807FE332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Snapshots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859F325-17D5-F963-4D5D-B23D1136FD55}"/>
              </a:ext>
            </a:extLst>
          </p:cNvPr>
          <p:cNvSpPr>
            <a:spLocks noGrp="1"/>
          </p:cNvSpPr>
          <p:nvPr>
            <p:ph type="subTitle"/>
          </p:nvPr>
        </p:nvSpPr>
        <p:spPr>
          <a:xfrm>
            <a:off x="319697" y="112606"/>
            <a:ext cx="8229240" cy="3977280"/>
          </a:xfrm>
        </p:spPr>
        <p:txBody>
          <a:bodyPr/>
          <a:lstStyle/>
          <a:p>
            <a:pPr algn="just"/>
            <a:r>
              <a:rPr lang="en-US" sz="1800" b="1" dirty="0">
                <a:latin typeface="Times New Roman" panose="02020603050405020304" pitchFamily="18" charset="0"/>
                <a:cs typeface="Times New Roman" panose="02020603050405020304" pitchFamily="18" charset="0"/>
              </a:rPr>
              <a:t>Patient Registration Module : </a:t>
            </a:r>
            <a:r>
              <a:rPr lang="en-US" sz="1800" dirty="0">
                <a:latin typeface="Times New Roman" panose="02020603050405020304" pitchFamily="18" charset="0"/>
                <a:cs typeface="Times New Roman" panose="02020603050405020304" pitchFamily="18" charset="0"/>
              </a:rPr>
              <a:t>This module collects patient details such as name, age, gender, address, contact number, and email ID. It provides a simple and secure interface for registering patients before starting the Alzheimer’s assessment process.</a:t>
            </a:r>
          </a:p>
          <a:p>
            <a:pPr algn="just"/>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6045484-3A26-D62A-4ECD-5967589C5638}"/>
              </a:ext>
            </a:extLst>
          </p:cNvPr>
          <p:cNvPicPr>
            <a:picLocks noChangeAspect="1"/>
          </p:cNvPicPr>
          <p:nvPr/>
        </p:nvPicPr>
        <p:blipFill>
          <a:blip r:embed="rId2"/>
          <a:stretch>
            <a:fillRect/>
          </a:stretch>
        </p:blipFill>
        <p:spPr>
          <a:xfrm>
            <a:off x="1051903" y="2606413"/>
            <a:ext cx="6930189" cy="3952948"/>
          </a:xfrm>
          <a:prstGeom prst="rect">
            <a:avLst/>
          </a:prstGeom>
        </p:spPr>
      </p:pic>
    </p:spTree>
    <p:extLst>
      <p:ext uri="{BB962C8B-B14F-4D97-AF65-F5344CB8AC3E}">
        <p14:creationId xmlns:p14="http://schemas.microsoft.com/office/powerpoint/2010/main" val="2173194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3BF77-CD10-8FBB-7C81-6292A7B971D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Snapshots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84E7070-D659-A03E-1097-F249EAD00CAC}"/>
              </a:ext>
            </a:extLst>
          </p:cNvPr>
          <p:cNvSpPr>
            <a:spLocks noGrp="1"/>
          </p:cNvSpPr>
          <p:nvPr>
            <p:ph type="subTitle"/>
          </p:nvPr>
        </p:nvSpPr>
        <p:spPr>
          <a:xfrm>
            <a:off x="195943" y="0"/>
            <a:ext cx="8229240" cy="3977280"/>
          </a:xfrm>
        </p:spPr>
        <p:txBody>
          <a:bodyPr/>
          <a:lstStyle/>
          <a:p>
            <a:pPr algn="just"/>
            <a:r>
              <a:rPr lang="en-US" sz="1800" b="1" dirty="0">
                <a:latin typeface="Times New Roman" panose="02020603050405020304" pitchFamily="18" charset="0"/>
                <a:cs typeface="Times New Roman" panose="02020603050405020304" pitchFamily="18" charset="0"/>
              </a:rPr>
              <a:t>Medical Assessment Module : </a:t>
            </a:r>
            <a:r>
              <a:rPr lang="en-US" sz="1800" dirty="0">
                <a:latin typeface="Times New Roman" panose="02020603050405020304" pitchFamily="18" charset="0"/>
                <a:cs typeface="Times New Roman" panose="02020603050405020304" pitchFamily="18" charset="0"/>
              </a:rPr>
              <a:t>This module allows users to enter clinical and cognitive information such as MMSE score, CDR value, and brain volume measurements. The collected data is used by the machine learning model to </a:t>
            </a:r>
            <a:r>
              <a:rPr lang="en-US" sz="1800" dirty="0" err="1">
                <a:latin typeface="Times New Roman" panose="02020603050405020304" pitchFamily="18" charset="0"/>
                <a:cs typeface="Times New Roman" panose="02020603050405020304" pitchFamily="18" charset="0"/>
              </a:rPr>
              <a:t>analyse</a:t>
            </a:r>
            <a:r>
              <a:rPr lang="en-US" sz="1800" dirty="0">
                <a:latin typeface="Times New Roman" panose="02020603050405020304" pitchFamily="18" charset="0"/>
                <a:cs typeface="Times New Roman" panose="02020603050405020304" pitchFamily="18" charset="0"/>
              </a:rPr>
              <a:t> the patient’s neurological health condition.</a:t>
            </a:r>
          </a:p>
          <a:p>
            <a:pPr algn="just"/>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2A99BF1-7B86-81F2-096E-65E8D2444D33}"/>
              </a:ext>
            </a:extLst>
          </p:cNvPr>
          <p:cNvPicPr>
            <a:picLocks noChangeAspect="1"/>
          </p:cNvPicPr>
          <p:nvPr/>
        </p:nvPicPr>
        <p:blipFill>
          <a:blip r:embed="rId2"/>
          <a:stretch>
            <a:fillRect/>
          </a:stretch>
        </p:blipFill>
        <p:spPr>
          <a:xfrm>
            <a:off x="1179094" y="2530968"/>
            <a:ext cx="6785811" cy="4059248"/>
          </a:xfrm>
          <a:prstGeom prst="rect">
            <a:avLst/>
          </a:prstGeom>
        </p:spPr>
      </p:pic>
    </p:spTree>
    <p:extLst>
      <p:ext uri="{BB962C8B-B14F-4D97-AF65-F5344CB8AC3E}">
        <p14:creationId xmlns:p14="http://schemas.microsoft.com/office/powerpoint/2010/main" val="3519635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BD7E-A7D7-6854-7B60-03891B5343F1}"/>
              </a:ext>
            </a:extLst>
          </p:cNvPr>
          <p:cNvSpPr>
            <a:spLocks noGrp="1"/>
          </p:cNvSpPr>
          <p:nvPr>
            <p:ph type="title"/>
          </p:nvPr>
        </p:nvSpPr>
        <p:spPr/>
        <p:txBody>
          <a:bodyPr/>
          <a:lstStyle/>
          <a:p>
            <a:pPr algn="just"/>
            <a:r>
              <a:rPr lang="en-US" dirty="0">
                <a:latin typeface="Times New Roman" panose="02020603050405020304" pitchFamily="18" charset="0"/>
                <a:cs typeface="Times New Roman" panose="02020603050405020304" pitchFamily="18" charset="0"/>
              </a:rPr>
              <a:t>Snapshots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EB844AB-C2DA-9707-7C42-ACFB20A15D86}"/>
              </a:ext>
            </a:extLst>
          </p:cNvPr>
          <p:cNvSpPr>
            <a:spLocks noGrp="1"/>
          </p:cNvSpPr>
          <p:nvPr>
            <p:ph type="subTitle"/>
          </p:nvPr>
        </p:nvSpPr>
        <p:spPr>
          <a:xfrm>
            <a:off x="195943" y="57603"/>
            <a:ext cx="8229240" cy="3977280"/>
          </a:xfrm>
        </p:spPr>
        <p:txBody>
          <a:bodyPr/>
          <a:lstStyle/>
          <a:p>
            <a:pPr algn="just"/>
            <a:r>
              <a:rPr lang="en-US" sz="1800" b="1" dirty="0">
                <a:latin typeface="Times New Roman" panose="02020603050405020304" pitchFamily="18" charset="0"/>
                <a:cs typeface="Times New Roman" panose="02020603050405020304" pitchFamily="18" charset="0"/>
              </a:rPr>
              <a:t>Result Prediction Module : </a:t>
            </a:r>
            <a:r>
              <a:rPr lang="en-US" sz="1800" dirty="0">
                <a:latin typeface="Times New Roman" panose="02020603050405020304" pitchFamily="18" charset="0"/>
                <a:cs typeface="Times New Roman" panose="02020603050405020304" pitchFamily="18" charset="0"/>
              </a:rPr>
              <a:t>This module displays the prediction result generated by the machine learning model. It shows whether early signs of Alzheimer’s disease are detected along with the confidence score for better understanding and decision-making.</a:t>
            </a:r>
          </a:p>
          <a:p>
            <a:pPr algn="just"/>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C09B540-B7D2-96E0-4216-696E66310AC5}"/>
              </a:ext>
            </a:extLst>
          </p:cNvPr>
          <p:cNvPicPr>
            <a:picLocks noChangeAspect="1"/>
          </p:cNvPicPr>
          <p:nvPr/>
        </p:nvPicPr>
        <p:blipFill>
          <a:blip r:embed="rId2"/>
          <a:stretch>
            <a:fillRect/>
          </a:stretch>
        </p:blipFill>
        <p:spPr>
          <a:xfrm>
            <a:off x="1464415" y="2527891"/>
            <a:ext cx="6215170" cy="3720435"/>
          </a:xfrm>
          <a:prstGeom prst="rect">
            <a:avLst/>
          </a:prstGeom>
        </p:spPr>
      </p:pic>
    </p:spTree>
    <p:extLst>
      <p:ext uri="{BB962C8B-B14F-4D97-AF65-F5344CB8AC3E}">
        <p14:creationId xmlns:p14="http://schemas.microsoft.com/office/powerpoint/2010/main" val="2313258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F42FA-4F6A-2705-1FB7-C8581E40CE4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Advantages</a:t>
            </a:r>
          </a:p>
        </p:txBody>
      </p:sp>
      <p:sp>
        <p:nvSpPr>
          <p:cNvPr id="4" name="Rectangle 1">
            <a:extLst>
              <a:ext uri="{FF2B5EF4-FFF2-40B4-BE49-F238E27FC236}">
                <a16:creationId xmlns:a16="http://schemas.microsoft.com/office/drawing/2014/main" id="{06D174A2-8A10-2B3B-5C2C-0B51A225E983}"/>
              </a:ext>
            </a:extLst>
          </p:cNvPr>
          <p:cNvSpPr>
            <a:spLocks noGrp="1" noChangeArrowheads="1"/>
          </p:cNvSpPr>
          <p:nvPr>
            <p:ph type="subTitle"/>
          </p:nvPr>
        </p:nvSpPr>
        <p:spPr bwMode="auto">
          <a:xfrm>
            <a:off x="89377" y="2138423"/>
            <a:ext cx="364394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diagnosis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Affordable solution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accessibility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Practical healthcare implementation </a:t>
            </a:r>
          </a:p>
        </p:txBody>
      </p:sp>
    </p:spTree>
    <p:extLst>
      <p:ext uri="{BB962C8B-B14F-4D97-AF65-F5344CB8AC3E}">
        <p14:creationId xmlns:p14="http://schemas.microsoft.com/office/powerpoint/2010/main" val="2033822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BD5A8-EFA0-7F67-4007-8437EDA87D5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Future Scope</a:t>
            </a:r>
          </a:p>
        </p:txBody>
      </p:sp>
      <p:sp>
        <p:nvSpPr>
          <p:cNvPr id="4" name="Rectangle 1">
            <a:extLst>
              <a:ext uri="{FF2B5EF4-FFF2-40B4-BE49-F238E27FC236}">
                <a16:creationId xmlns:a16="http://schemas.microsoft.com/office/drawing/2014/main" id="{6B3471FD-1BE5-229C-A1C3-2FEA2D285C40}"/>
              </a:ext>
            </a:extLst>
          </p:cNvPr>
          <p:cNvSpPr>
            <a:spLocks noGrp="1" noChangeArrowheads="1"/>
          </p:cNvSpPr>
          <p:nvPr>
            <p:ph type="subTitle"/>
          </p:nvPr>
        </p:nvSpPr>
        <p:spPr bwMode="auto">
          <a:xfrm>
            <a:off x="391885" y="2158052"/>
            <a:ext cx="313098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MRI scan integration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Explainable AI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deployment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Hospital system integration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Remote healthcare monitoring </a:t>
            </a:r>
          </a:p>
        </p:txBody>
      </p:sp>
    </p:spTree>
    <p:extLst>
      <p:ext uri="{BB962C8B-B14F-4D97-AF65-F5344CB8AC3E}">
        <p14:creationId xmlns:p14="http://schemas.microsoft.com/office/powerpoint/2010/main" val="4011609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805F2-9B20-4D35-92B4-4FC359C1635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15A40938-FD28-8D01-427D-D050CD552677}"/>
              </a:ext>
            </a:extLst>
          </p:cNvPr>
          <p:cNvSpPr>
            <a:spLocks noGrp="1" noChangeArrowheads="1"/>
          </p:cNvSpPr>
          <p:nvPr>
            <p:ph type="subTitle"/>
          </p:nvPr>
        </p:nvSpPr>
        <p:spPr bwMode="auto">
          <a:xfrm>
            <a:off x="378135" y="1961566"/>
            <a:ext cx="7342700" cy="1467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improves early Alzheimer detection.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achieved highest accuracy.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system provides real-time results.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supports healthcare professionals.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Practical and scalable healthcare solution. </a:t>
            </a:r>
          </a:p>
        </p:txBody>
      </p:sp>
    </p:spTree>
    <p:extLst>
      <p:ext uri="{BB962C8B-B14F-4D97-AF65-F5344CB8AC3E}">
        <p14:creationId xmlns:p14="http://schemas.microsoft.com/office/powerpoint/2010/main" val="556525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16</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34747</TotalTime>
  <Words>514</Words>
  <Application>Microsoft Office PowerPoint</Application>
  <PresentationFormat>On-screen Show (4:3)</PresentationFormat>
  <Paragraphs>108</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Wingdings</vt:lpstr>
      <vt:lpstr>Office Theme</vt:lpstr>
      <vt:lpstr>PowerPoint Presentation</vt:lpstr>
      <vt:lpstr>PowerPoint Presentation</vt:lpstr>
      <vt:lpstr>Problem Statement</vt:lpstr>
      <vt:lpstr>Objectives</vt:lpstr>
      <vt:lpstr>System Architecture</vt:lpstr>
      <vt:lpstr>Dataset and Preprocessing</vt:lpstr>
      <vt:lpstr>Results and Analysis</vt:lpstr>
      <vt:lpstr>Snapshots</vt:lpstr>
      <vt:lpstr>Snapshots</vt:lpstr>
      <vt:lpstr>Snapshots</vt:lpstr>
      <vt:lpstr>Snapshots</vt:lpstr>
      <vt:lpstr>Snapshots</vt:lpstr>
      <vt:lpstr>Advantages</vt:lpstr>
      <vt:lpstr>Future Scope</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Karanpreet Singh</cp:lastModifiedBy>
  <cp:revision>2302</cp:revision>
  <dcterms:created xsi:type="dcterms:W3CDTF">2010-04-09T07:36:15Z</dcterms:created>
  <dcterms:modified xsi:type="dcterms:W3CDTF">2026-05-13T15:35:49Z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