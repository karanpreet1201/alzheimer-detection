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57" r:id="rId6"/>
    <p:sldId id="269" r:id="rId7"/>
    <p:sldId id="270" r:id="rId8"/>
    <p:sldId id="271" r:id="rId9"/>
    <p:sldId id="272" r:id="rId10"/>
    <p:sldId id="273" r:id="rId11"/>
    <p:sldId id="278" r:id="rId12"/>
    <p:sldId id="277" r:id="rId13"/>
    <p:sldId id="279" r:id="rId14"/>
    <p:sldId id="281" r:id="rId15"/>
    <p:sldId id="282" r:id="rId16"/>
    <p:sldId id="274" r:id="rId17"/>
    <p:sldId id="275" r:id="rId18"/>
    <p:sldId id="276"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474" y="2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5/13/2026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5/13/2026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IN" b="1" dirty="0">
                <a:latin typeface="Times New Roman" panose="02020603050405020304" pitchFamily="18" charset="0"/>
                <a:cs typeface="Times New Roman" panose="02020603050405020304" pitchFamily="18" charset="0"/>
              </a:rPr>
              <a:t>EARLY DIAGNOSIS OF ALZHEIMER’S DISEASE USING MACHINE LEARNING</a:t>
            </a:r>
            <a:endParaRPr lang="en-IN" dirty="0">
              <a:latin typeface="Times New Roman" panose="02020603050405020304" pitchFamily="18" charset="0"/>
              <a:cs typeface="Times New Roman" panose="02020603050405020304" pitchFamily="18" charset="0"/>
            </a:endParaRPr>
          </a:p>
          <a:p>
            <a:pPr algn="ctr">
              <a:lnSpc>
                <a:spcPct val="100000"/>
              </a:lnSpc>
              <a:spcBef>
                <a:spcPts val="400"/>
              </a:spcBef>
            </a:pP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Karanpreet </a:t>
            </a:r>
            <a:r>
              <a:rPr lang="en-US" sz="2000" spc="-1" dirty="0">
                <a:solidFill>
                  <a:srgbClr val="000000"/>
                </a:solidFill>
                <a:latin typeface="Times New Roman" panose="02020603050405020304" pitchFamily="18" charset="0"/>
                <a:ea typeface="MS PGothic"/>
                <a:cs typeface="Times New Roman" panose="02020603050405020304" pitchFamily="18" charset="0"/>
              </a:rPr>
              <a:t>Singh (2210990482)</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Karishma Dhawan (2210990483)</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Kanishk Kharbanda (2210990472)</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Jasmine Rathor (2210990450)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Gifty Gupta</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641"/>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Alzheimer’s disease affects memory and thinking ability.</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Early diagnosis helps slow disease progression.</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Traditional diagnosis methods are expensive and time-consuming.</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Machine learning can improve early detection accuracy.</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Proposed system provides real-time prediction.</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9095-2233-238A-87CC-C61D3C36DDE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B661BA10-F086-EB4D-1762-C40388A8CF50}"/>
              </a:ext>
            </a:extLst>
          </p:cNvPr>
          <p:cNvSpPr>
            <a:spLocks noGrp="1" noChangeArrowheads="1"/>
          </p:cNvSpPr>
          <p:nvPr>
            <p:ph type="subTitle"/>
          </p:nvPr>
        </p:nvSpPr>
        <p:spPr bwMode="auto">
          <a:xfrm>
            <a:off x="409073" y="1671964"/>
            <a:ext cx="538064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diagnosis in traditional systems.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cost of MRI and PET scans.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real-time prediction systems.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user-friendly healthcare interfaces.</a:t>
            </a:r>
          </a:p>
          <a:p>
            <a:pPr marL="28575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affordable and accurate diagnostic support. </a:t>
            </a:r>
          </a:p>
        </p:txBody>
      </p:sp>
    </p:spTree>
    <p:extLst>
      <p:ext uri="{BB962C8B-B14F-4D97-AF65-F5344CB8AC3E}">
        <p14:creationId xmlns:p14="http://schemas.microsoft.com/office/powerpoint/2010/main" val="76892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231A-0D54-BA1D-CF67-F770446B028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64E96EDD-C191-3902-8F84-504EF74E9F81}"/>
              </a:ext>
            </a:extLst>
          </p:cNvPr>
          <p:cNvSpPr>
            <a:spLocks noGrp="1" noChangeArrowheads="1"/>
          </p:cNvSpPr>
          <p:nvPr>
            <p:ph type="subTitle"/>
          </p:nvPr>
        </p:nvSpPr>
        <p:spPr bwMode="auto">
          <a:xfrm>
            <a:off x="0" y="1650284"/>
            <a:ext cx="521488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machine learning-based prediction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real-time Alzheimer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an easy-to-use web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prediction accuracy using ML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 healthcare professionals in decision-making. </a:t>
            </a:r>
          </a:p>
        </p:txBody>
      </p:sp>
    </p:spTree>
    <p:extLst>
      <p:ext uri="{BB962C8B-B14F-4D97-AF65-F5344CB8AC3E}">
        <p14:creationId xmlns:p14="http://schemas.microsoft.com/office/powerpoint/2010/main" val="3179914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DB74C-8792-48B6-FF92-EFA7E043DB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Architecture</a:t>
            </a:r>
          </a:p>
        </p:txBody>
      </p:sp>
      <p:sp>
        <p:nvSpPr>
          <p:cNvPr id="3" name="Subtitle 2">
            <a:extLst>
              <a:ext uri="{FF2B5EF4-FFF2-40B4-BE49-F238E27FC236}">
                <a16:creationId xmlns:a16="http://schemas.microsoft.com/office/drawing/2014/main" id="{F8E663F8-59E3-A15D-2E77-B1691C097EBB}"/>
              </a:ext>
            </a:extLst>
          </p:cNvPr>
          <p:cNvSpPr>
            <a:spLocks noGrp="1"/>
          </p:cNvSpPr>
          <p:nvPr>
            <p:ph type="subTitle"/>
          </p:nvPr>
        </p:nvSpPr>
        <p:spPr>
          <a:xfrm>
            <a:off x="171880" y="2971980"/>
            <a:ext cx="5486040" cy="914040"/>
          </a:xfrm>
        </p:spPr>
        <p:txBody>
          <a:bodyPr/>
          <a:lstStyle/>
          <a:p>
            <a:r>
              <a:rPr lang="en-IN" sz="2000" b="1" dirty="0">
                <a:latin typeface="Times New Roman" panose="02020603050405020304" pitchFamily="18" charset="0"/>
                <a:cs typeface="Times New Roman" panose="02020603050405020304" pitchFamily="18" charset="0"/>
              </a:rPr>
              <a:t>Frontend</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React.js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Backend</a:t>
            </a:r>
          </a:p>
          <a:p>
            <a:pPr marL="34290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FastAPI</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Machine Learning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Random Forest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SVM</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CNN</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Dataset</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ADNI</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OASIS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33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2905-085E-B0D9-25F5-7775F80CB41D}"/>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Dataset and Preprocessing</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5EAA554-633F-B59D-644B-2061CEF17913}"/>
              </a:ext>
            </a:extLst>
          </p:cNvPr>
          <p:cNvSpPr>
            <a:spLocks noGrp="1"/>
          </p:cNvSpPr>
          <p:nvPr>
            <p:ph type="subTitle"/>
          </p:nvPr>
        </p:nvSpPr>
        <p:spPr>
          <a:xfrm>
            <a:off x="350635" y="2316938"/>
            <a:ext cx="5486040" cy="2289078"/>
          </a:xfrm>
        </p:spPr>
        <p:txBody>
          <a:bodyPr/>
          <a:lstStyle/>
          <a:p>
            <a:pPr marL="457200" indent="-4572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Datasets Used</a:t>
            </a:r>
          </a:p>
          <a:p>
            <a:endParaRPr lang="en-IN"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ADNI Dataset</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OASIS Dataset</a:t>
            </a:r>
          </a:p>
          <a:p>
            <a:pPr marL="0" indent="0">
              <a:buNone/>
            </a:pPr>
            <a:endParaRPr lang="en-IN" sz="2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Preprocessing Steps</a:t>
            </a:r>
          </a:p>
          <a:p>
            <a:endParaRPr lang="en-IN"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Missing value handling</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Data cleaning</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Feature scaling</a:t>
            </a: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Normalization</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491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E23B5-2C3E-54C1-3FBD-0FAFE6BEBC9A}"/>
              </a:ext>
            </a:extLst>
          </p:cNvPr>
          <p:cNvSpPr>
            <a:spLocks noGrp="1"/>
          </p:cNvSpPr>
          <p:nvPr>
            <p:ph type="title"/>
          </p:nvPr>
        </p:nvSpPr>
        <p:spPr/>
        <p:txBody>
          <a:bodyPr/>
          <a:lstStyle/>
          <a:p>
            <a:r>
              <a:rPr lang="en-IN" dirty="0"/>
              <a:t>Results and Analysis</a:t>
            </a:r>
          </a:p>
        </p:txBody>
      </p:sp>
      <p:sp>
        <p:nvSpPr>
          <p:cNvPr id="4" name="Rectangle 1">
            <a:extLst>
              <a:ext uri="{FF2B5EF4-FFF2-40B4-BE49-F238E27FC236}">
                <a16:creationId xmlns:a16="http://schemas.microsoft.com/office/drawing/2014/main" id="{56BE9A59-4DB1-2160-1E30-9E97C4BE3C2F}"/>
              </a:ext>
            </a:extLst>
          </p:cNvPr>
          <p:cNvSpPr>
            <a:spLocks noGrp="1" noChangeArrowheads="1"/>
          </p:cNvSpPr>
          <p:nvPr>
            <p:ph type="subTitle"/>
          </p:nvPr>
        </p:nvSpPr>
        <p:spPr bwMode="auto">
          <a:xfrm>
            <a:off x="94780" y="1171735"/>
            <a:ext cx="559689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prediction achieved.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response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Reliable confidence score output.</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901142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E86F7-E852-9552-2C1A-BCE3930BB7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509155D-5D27-10B7-73C2-751A78B21E49}"/>
              </a:ext>
            </a:extLst>
          </p:cNvPr>
          <p:cNvSpPr>
            <a:spLocks noGrp="1"/>
          </p:cNvSpPr>
          <p:nvPr>
            <p:ph type="subTitle"/>
          </p:nvPr>
        </p:nvSpPr>
        <p:spPr>
          <a:xfrm>
            <a:off x="373224" y="755779"/>
            <a:ext cx="8229240" cy="2489695"/>
          </a:xfrm>
        </p:spPr>
        <p:txBody>
          <a:bodyPr/>
          <a:lstStyle/>
          <a:p>
            <a:pPr algn="just">
              <a:lnSpc>
                <a:spcPct val="150000"/>
              </a:lnSpc>
            </a:pPr>
            <a:r>
              <a:rPr lang="en-US" sz="1600" b="1" dirty="0">
                <a:latin typeface="Times New Roman" panose="02020603050405020304" pitchFamily="18" charset="0"/>
                <a:cs typeface="Times New Roman" panose="02020603050405020304" pitchFamily="18" charset="0"/>
              </a:rPr>
              <a:t>Login Module : </a:t>
            </a:r>
            <a:r>
              <a:rPr lang="en-US" sz="1600" dirty="0">
                <a:latin typeface="Times New Roman" panose="02020603050405020304" pitchFamily="18" charset="0"/>
                <a:cs typeface="Times New Roman" panose="02020603050405020304" pitchFamily="18" charset="0"/>
              </a:rPr>
              <a:t>This module allows registered users to securely access the Alzheimer’s assessment system using their username and password. It ensures authorized access to patient data and prediction features.</a:t>
            </a:r>
          </a:p>
          <a:p>
            <a:endParaRPr lang="en-IN" sz="1800" dirty="0"/>
          </a:p>
        </p:txBody>
      </p:sp>
      <p:pic>
        <p:nvPicPr>
          <p:cNvPr id="5" name="Picture 4">
            <a:extLst>
              <a:ext uri="{FF2B5EF4-FFF2-40B4-BE49-F238E27FC236}">
                <a16:creationId xmlns:a16="http://schemas.microsoft.com/office/drawing/2014/main" id="{A794004A-439E-7484-7E84-AFF8C65828BD}"/>
              </a:ext>
            </a:extLst>
          </p:cNvPr>
          <p:cNvPicPr>
            <a:picLocks noChangeAspect="1"/>
          </p:cNvPicPr>
          <p:nvPr/>
        </p:nvPicPr>
        <p:blipFill>
          <a:blip r:embed="rId2"/>
          <a:stretch>
            <a:fillRect/>
          </a:stretch>
        </p:blipFill>
        <p:spPr>
          <a:xfrm>
            <a:off x="1284007" y="2622615"/>
            <a:ext cx="5754532" cy="3066171"/>
          </a:xfrm>
          <a:prstGeom prst="rect">
            <a:avLst/>
          </a:prstGeom>
        </p:spPr>
      </p:pic>
    </p:spTree>
    <p:extLst>
      <p:ext uri="{BB962C8B-B14F-4D97-AF65-F5344CB8AC3E}">
        <p14:creationId xmlns:p14="http://schemas.microsoft.com/office/powerpoint/2010/main" val="126996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530AE-717C-FF45-4D54-47924C1356A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29829A2-CBA9-2E18-27DB-8719A079413D}"/>
              </a:ext>
            </a:extLst>
          </p:cNvPr>
          <p:cNvSpPr>
            <a:spLocks noGrp="1"/>
          </p:cNvSpPr>
          <p:nvPr>
            <p:ph type="subTitle"/>
          </p:nvPr>
        </p:nvSpPr>
        <p:spPr>
          <a:xfrm>
            <a:off x="244069" y="78229"/>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Registration Module : </a:t>
            </a:r>
            <a:r>
              <a:rPr lang="en-US" sz="1800" dirty="0">
                <a:latin typeface="Times New Roman" panose="02020603050405020304" pitchFamily="18" charset="0"/>
                <a:cs typeface="Times New Roman" panose="02020603050405020304" pitchFamily="18" charset="0"/>
              </a:rPr>
              <a:t>This module enables new users to create an account by entering basic details such as username, email, and password. It helps maintain secure and personalized access to the system.</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D8BDA19-04DA-E8FE-A448-E6F08218A493}"/>
              </a:ext>
            </a:extLst>
          </p:cNvPr>
          <p:cNvPicPr>
            <a:picLocks noChangeAspect="1"/>
          </p:cNvPicPr>
          <p:nvPr/>
        </p:nvPicPr>
        <p:blipFill>
          <a:blip r:embed="rId2"/>
          <a:stretch>
            <a:fillRect/>
          </a:stretch>
        </p:blipFill>
        <p:spPr>
          <a:xfrm>
            <a:off x="1347537" y="2542839"/>
            <a:ext cx="6607056" cy="3680586"/>
          </a:xfrm>
          <a:prstGeom prst="rect">
            <a:avLst/>
          </a:prstGeom>
        </p:spPr>
      </p:pic>
    </p:spTree>
    <p:extLst>
      <p:ext uri="{BB962C8B-B14F-4D97-AF65-F5344CB8AC3E}">
        <p14:creationId xmlns:p14="http://schemas.microsoft.com/office/powerpoint/2010/main" val="1422649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21134-A3B9-EF11-37C8-791807FE332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859F325-17D5-F963-4D5D-B23D1136FD55}"/>
              </a:ext>
            </a:extLst>
          </p:cNvPr>
          <p:cNvSpPr>
            <a:spLocks noGrp="1"/>
          </p:cNvSpPr>
          <p:nvPr>
            <p:ph type="subTitle"/>
          </p:nvPr>
        </p:nvSpPr>
        <p:spPr>
          <a:xfrm>
            <a:off x="319697" y="112606"/>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Patient Registration Module : </a:t>
            </a:r>
            <a:r>
              <a:rPr lang="en-US" sz="1800" dirty="0">
                <a:latin typeface="Times New Roman" panose="02020603050405020304" pitchFamily="18" charset="0"/>
                <a:cs typeface="Times New Roman" panose="02020603050405020304" pitchFamily="18" charset="0"/>
              </a:rPr>
              <a:t>This module collects patient details such as name, age, gender, address, contact number, and email ID. It provides a simple and secure interface for registering patients before starting the Alzheimer’s assessment process.</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045484-3A26-D62A-4ECD-5967589C5638}"/>
              </a:ext>
            </a:extLst>
          </p:cNvPr>
          <p:cNvPicPr>
            <a:picLocks noChangeAspect="1"/>
          </p:cNvPicPr>
          <p:nvPr/>
        </p:nvPicPr>
        <p:blipFill>
          <a:blip r:embed="rId2"/>
          <a:stretch>
            <a:fillRect/>
          </a:stretch>
        </p:blipFill>
        <p:spPr>
          <a:xfrm>
            <a:off x="1051903" y="2606413"/>
            <a:ext cx="6930189" cy="3952948"/>
          </a:xfrm>
          <a:prstGeom prst="rect">
            <a:avLst/>
          </a:prstGeom>
        </p:spPr>
      </p:pic>
    </p:spTree>
    <p:extLst>
      <p:ext uri="{BB962C8B-B14F-4D97-AF65-F5344CB8AC3E}">
        <p14:creationId xmlns:p14="http://schemas.microsoft.com/office/powerpoint/2010/main" val="217319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3BF77-CD10-8FBB-7C81-6292A7B971D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84E7070-D659-A03E-1097-F249EAD00CAC}"/>
              </a:ext>
            </a:extLst>
          </p:cNvPr>
          <p:cNvSpPr>
            <a:spLocks noGrp="1"/>
          </p:cNvSpPr>
          <p:nvPr>
            <p:ph type="subTitle"/>
          </p:nvPr>
        </p:nvSpPr>
        <p:spPr>
          <a:xfrm>
            <a:off x="195943" y="0"/>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Medical Assessment Module : </a:t>
            </a:r>
            <a:r>
              <a:rPr lang="en-US" sz="1800" dirty="0">
                <a:latin typeface="Times New Roman" panose="02020603050405020304" pitchFamily="18" charset="0"/>
                <a:cs typeface="Times New Roman" panose="02020603050405020304" pitchFamily="18" charset="0"/>
              </a:rPr>
              <a:t>This module allows users to enter clinical and cognitive information such as MMSE score, CDR value, and brain volume measurements. The collected data is used by the machine learning model to </a:t>
            </a:r>
            <a:r>
              <a:rPr lang="en-US" sz="1800" dirty="0" err="1">
                <a:latin typeface="Times New Roman" panose="02020603050405020304" pitchFamily="18" charset="0"/>
                <a:cs typeface="Times New Roman" panose="02020603050405020304" pitchFamily="18" charset="0"/>
              </a:rPr>
              <a:t>analyse</a:t>
            </a:r>
            <a:r>
              <a:rPr lang="en-US" sz="1800" dirty="0">
                <a:latin typeface="Times New Roman" panose="02020603050405020304" pitchFamily="18" charset="0"/>
                <a:cs typeface="Times New Roman" panose="02020603050405020304" pitchFamily="18" charset="0"/>
              </a:rPr>
              <a:t> the patient’s neurological health condition.</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2A99BF1-7B86-81F2-096E-65E8D2444D33}"/>
              </a:ext>
            </a:extLst>
          </p:cNvPr>
          <p:cNvPicPr>
            <a:picLocks noChangeAspect="1"/>
          </p:cNvPicPr>
          <p:nvPr/>
        </p:nvPicPr>
        <p:blipFill>
          <a:blip r:embed="rId2"/>
          <a:stretch>
            <a:fillRect/>
          </a:stretch>
        </p:blipFill>
        <p:spPr>
          <a:xfrm>
            <a:off x="1179094" y="2530968"/>
            <a:ext cx="6785811" cy="4059248"/>
          </a:xfrm>
          <a:prstGeom prst="rect">
            <a:avLst/>
          </a:prstGeom>
        </p:spPr>
      </p:pic>
    </p:spTree>
    <p:extLst>
      <p:ext uri="{BB962C8B-B14F-4D97-AF65-F5344CB8AC3E}">
        <p14:creationId xmlns:p14="http://schemas.microsoft.com/office/powerpoint/2010/main" val="3519635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BD7E-A7D7-6854-7B60-03891B5343F1}"/>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Snapshots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EB844AB-C2DA-9707-7C42-ACFB20A15D86}"/>
              </a:ext>
            </a:extLst>
          </p:cNvPr>
          <p:cNvSpPr>
            <a:spLocks noGrp="1"/>
          </p:cNvSpPr>
          <p:nvPr>
            <p:ph type="subTitle"/>
          </p:nvPr>
        </p:nvSpPr>
        <p:spPr>
          <a:xfrm>
            <a:off x="195943" y="57603"/>
            <a:ext cx="8229240" cy="3977280"/>
          </a:xfrm>
        </p:spPr>
        <p:txBody>
          <a:bodyPr/>
          <a:lstStyle/>
          <a:p>
            <a:pPr algn="just"/>
            <a:r>
              <a:rPr lang="en-US" sz="1800" b="1" dirty="0">
                <a:latin typeface="Times New Roman" panose="02020603050405020304" pitchFamily="18" charset="0"/>
                <a:cs typeface="Times New Roman" panose="02020603050405020304" pitchFamily="18" charset="0"/>
              </a:rPr>
              <a:t>Result Prediction Module : </a:t>
            </a:r>
            <a:r>
              <a:rPr lang="en-US" sz="1800" dirty="0">
                <a:latin typeface="Times New Roman" panose="02020603050405020304" pitchFamily="18" charset="0"/>
                <a:cs typeface="Times New Roman" panose="02020603050405020304" pitchFamily="18" charset="0"/>
              </a:rPr>
              <a:t>This module displays the prediction result generated by the machine learning model. It shows whether early signs of Alzheimer’s disease are detected along with the confidence score for better understanding and decision-making.</a:t>
            </a: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C09B540-B7D2-96E0-4216-696E66310AC5}"/>
              </a:ext>
            </a:extLst>
          </p:cNvPr>
          <p:cNvPicPr>
            <a:picLocks noChangeAspect="1"/>
          </p:cNvPicPr>
          <p:nvPr/>
        </p:nvPicPr>
        <p:blipFill>
          <a:blip r:embed="rId2"/>
          <a:stretch>
            <a:fillRect/>
          </a:stretch>
        </p:blipFill>
        <p:spPr>
          <a:xfrm>
            <a:off x="1464415" y="2527891"/>
            <a:ext cx="6215170" cy="3720435"/>
          </a:xfrm>
          <a:prstGeom prst="rect">
            <a:avLst/>
          </a:prstGeom>
        </p:spPr>
      </p:pic>
    </p:spTree>
    <p:extLst>
      <p:ext uri="{BB962C8B-B14F-4D97-AF65-F5344CB8AC3E}">
        <p14:creationId xmlns:p14="http://schemas.microsoft.com/office/powerpoint/2010/main" val="2313258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F42FA-4F6A-2705-1FB7-C8581E40CE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Advantages</a:t>
            </a:r>
          </a:p>
        </p:txBody>
      </p:sp>
      <p:sp>
        <p:nvSpPr>
          <p:cNvPr id="4" name="Rectangle 1">
            <a:extLst>
              <a:ext uri="{FF2B5EF4-FFF2-40B4-BE49-F238E27FC236}">
                <a16:creationId xmlns:a16="http://schemas.microsoft.com/office/drawing/2014/main" id="{06D174A2-8A10-2B3B-5C2C-0B51A225E983}"/>
              </a:ext>
            </a:extLst>
          </p:cNvPr>
          <p:cNvSpPr>
            <a:spLocks noGrp="1" noChangeArrowheads="1"/>
          </p:cNvSpPr>
          <p:nvPr>
            <p:ph type="subTitle"/>
          </p:nvPr>
        </p:nvSpPr>
        <p:spPr bwMode="auto">
          <a:xfrm>
            <a:off x="89377" y="2138423"/>
            <a:ext cx="364394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Affordable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Practical healthcare implementation </a:t>
            </a:r>
          </a:p>
        </p:txBody>
      </p:sp>
    </p:spTree>
    <p:extLst>
      <p:ext uri="{BB962C8B-B14F-4D97-AF65-F5344CB8AC3E}">
        <p14:creationId xmlns:p14="http://schemas.microsoft.com/office/powerpoint/2010/main" val="2033822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D5A8-EFA0-7F67-4007-8437EDA87D5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6B3471FD-1BE5-229C-A1C3-2FEA2D285C40}"/>
              </a:ext>
            </a:extLst>
          </p:cNvPr>
          <p:cNvSpPr>
            <a:spLocks noGrp="1" noChangeArrowheads="1"/>
          </p:cNvSpPr>
          <p:nvPr>
            <p:ph type="subTitle"/>
          </p:nvPr>
        </p:nvSpPr>
        <p:spPr bwMode="auto">
          <a:xfrm>
            <a:off x="391885" y="2158052"/>
            <a:ext cx="313098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MRI scan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Hospital system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healthcare monitoring </a:t>
            </a:r>
          </a:p>
        </p:txBody>
      </p:sp>
    </p:spTree>
    <p:extLst>
      <p:ext uri="{BB962C8B-B14F-4D97-AF65-F5344CB8AC3E}">
        <p14:creationId xmlns:p14="http://schemas.microsoft.com/office/powerpoint/2010/main" val="401160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805F2-9B20-4D35-92B4-4FC359C1635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15A40938-FD28-8D01-427D-D050CD552677}"/>
              </a:ext>
            </a:extLst>
          </p:cNvPr>
          <p:cNvSpPr>
            <a:spLocks noGrp="1" noChangeArrowheads="1"/>
          </p:cNvSpPr>
          <p:nvPr>
            <p:ph type="subTitle"/>
          </p:nvPr>
        </p:nvSpPr>
        <p:spPr bwMode="auto">
          <a:xfrm>
            <a:off x="378135" y="1961566"/>
            <a:ext cx="7342700" cy="1467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improves early Alzheimer detection.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achieved highest accuracy.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system provides real-time results.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supports healthcare professionals.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Practical and scalable healthcare solution. </a:t>
            </a:r>
          </a:p>
        </p:txBody>
      </p:sp>
    </p:spTree>
    <p:extLst>
      <p:ext uri="{BB962C8B-B14F-4D97-AF65-F5344CB8AC3E}">
        <p14:creationId xmlns:p14="http://schemas.microsoft.com/office/powerpoint/2010/main" val="556525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34751</TotalTime>
  <Words>507</Words>
  <Application>Microsoft Office PowerPoint</Application>
  <PresentationFormat>On-screen Show (4:3)</PresentationFormat>
  <Paragraphs>111</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PowerPoint Presentation</vt:lpstr>
      <vt:lpstr>PowerPoint Presentation</vt:lpstr>
      <vt:lpstr>Problem Statement</vt:lpstr>
      <vt:lpstr>Objectives</vt:lpstr>
      <vt:lpstr>System Architecture</vt:lpstr>
      <vt:lpstr>Dataset and Preprocessing</vt:lpstr>
      <vt:lpstr>Results and Analysis</vt:lpstr>
      <vt:lpstr>Snapshots</vt:lpstr>
      <vt:lpstr>Snapshots</vt:lpstr>
      <vt:lpstr>Snapshots</vt:lpstr>
      <vt:lpstr>Snapshots</vt:lpstr>
      <vt:lpstr>Snapshots</vt:lpstr>
      <vt:lpstr>Advantages</vt:lpstr>
      <vt:lpstr>Future Scope</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Karishma Dhawan</cp:lastModifiedBy>
  <cp:revision>2303</cp:revision>
  <dcterms:created xsi:type="dcterms:W3CDTF">2010-04-09T07:36:15Z</dcterms:created>
  <dcterms:modified xsi:type="dcterms:W3CDTF">2026-05-13T16:38:00Z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